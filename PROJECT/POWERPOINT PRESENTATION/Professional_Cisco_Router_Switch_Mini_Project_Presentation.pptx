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06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822960"/>
            <a:ext cx="3657600" cy="5212080"/>
          </a:xfrm>
          <a:prstGeom prst="rect">
            <a:avLst/>
          </a:prstGeom>
          <a:solidFill>
            <a:srgbClr val="23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56448" y="978408"/>
            <a:ext cx="3438144" cy="4169663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itial Router &amp; Switch Configuration Mini 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2148070"/>
            <a:ext cx="3383280" cy="18303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005840"/>
            <a:ext cx="68580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Cisco Router &amp; Switch</a:t>
            </a:r>
          </a:p>
          <a:p>
            <a:pPr>
              <a:defRPr sz="2800" b="1">
                <a:solidFill>
                  <a:srgbClr val="96DCE1"/>
                </a:solidFill>
                <a:latin typeface="Aptos Display"/>
              </a:defRPr>
            </a:pPr>
            <a:r>
              <a:t>Initial Configuration and Network Connectivity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63093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Mini Project Presentation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Group: ____________________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Students: ______________________________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Department/Class: ______________________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Date: _________________________________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3035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Aptos"/>
              </a:defRPr>
            </a:pPr>
            <a:r>
              <a:t>Completed Packet Tracer topology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Lab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  <a:latin typeface="Aptos"/>
              </a:defRPr>
            </a:pPr>
            <a:r>
              <a:t>The project focuses on initial device configuration, security, addressing, and connectivity.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Configure router hostnames using the assigned group ID.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Secure privileged EXEC and console/user EXEC access.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Configure remote management using SSH and VTY lines.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Encrypt passwords and configure a legal login banner.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Assign IPv4 addresses and activate router interfaces.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Configure switch management IP addresses and default gateways.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Configure PC default gateways and verify end-to-end connectivity.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Save the running configuration for future 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ptos"/>
              </a:defRPr>
            </a:pPr>
            <a:r>
              <a:t>Cisco Packet Tracer | Initial Router &amp; Switch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28816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06CAA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Network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  <a:latin typeface="Aptos"/>
              </a:defRPr>
            </a:pPr>
            <a:r>
              <a:t>Two routers connect two separate LANs, each containing one switch and four PCs.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7" y="1069848"/>
            <a:ext cx="11027664" cy="4992624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itial Router &amp; Switch Configuration Mini 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893" y="1097280"/>
            <a:ext cx="9127172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1081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F6973"/>
                </a:solidFill>
                <a:latin typeface="Aptos"/>
              </a:defRPr>
            </a:pPr>
            <a:r>
              <a:t>Figure: Packet Tracer topology created for the mini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5624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ptos"/>
              </a:defRPr>
            </a:pPr>
            <a:r>
              <a:t>Cisco Packet Tracer | Initial Router &amp; Switch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28816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06CA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IP Addressing &amp; Subnetting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  <a:latin typeface="Aptos"/>
              </a:defRPr>
            </a:pPr>
            <a:r>
              <a:t>The lab brief contains both /24 and /29 references; this addressing table follows the configured screenshots (/24).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10881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2194560"/>
                <a:gridCol w="2286000"/>
                <a:gridCol w="2560320"/>
              </a:tblGrid>
              <a:tr h="44413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Network</a:t>
                      </a:r>
                    </a:p>
                  </a:txBody>
                  <a:tcPr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Mask</a:t>
                      </a:r>
                    </a:p>
                  </a:txBody>
                  <a:tcPr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Example Gateway</a:t>
                      </a:r>
                    </a:p>
                  </a:txBody>
                  <a:tcPr>
                    <a:solidFill>
                      <a:srgbClr val="0F2137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LAN 1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192.168.10.0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255.255.255.0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Router 1 LAN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192.168.10.1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LAN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192.168.20.0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255.255.255.0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Router 2 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192.168.20.1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R1–R2 Link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10.0.0.0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255.255.255.252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Inter-router link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10.0.0.1 / 10.0.0.2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S1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192.168.10.0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255.255.255.0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VLAN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192.168.10.1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S2 Management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192.168.20.0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255.255.255.0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VLAN 1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192.168.20.1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PC Networks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192.168.10.x / 20.x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255.255.255.0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End devices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Router LAN 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617720"/>
            <a:ext cx="521208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617720"/>
            <a:ext cx="82296" cy="132588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7823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137"/>
                </a:solidFill>
                <a:latin typeface="Aptos"/>
              </a:defRPr>
            </a:pPr>
            <a:r>
              <a:t>Subnetting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184648"/>
            <a:ext cx="48006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The presentation requirement mentions 192.168.10.0/29, while the provided topology and device screenshots were configured with /24 masks.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617720"/>
            <a:ext cx="521208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4617720"/>
            <a:ext cx="82296" cy="1325880"/>
          </a:xfrm>
          <a:prstGeom prst="rect">
            <a:avLst/>
          </a:prstGeom>
          <a:solidFill>
            <a:srgbClr val="206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7823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137"/>
                </a:solidFill>
                <a:latin typeface="Aptos"/>
              </a:defRPr>
            </a:pPr>
            <a:r>
              <a:t>Professional 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184648"/>
            <a:ext cx="48006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Use one addressing scheme consistently. Confirm the required mask with the instructor before final submission.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5624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ptos"/>
              </a:defRPr>
            </a:pPr>
            <a:r>
              <a:t>Cisco Packet Tracer | Initial Router &amp; Switch Configuration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528816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06CAA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Router Initial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  <a:latin typeface="Aptos"/>
              </a:defRPr>
            </a:pPr>
            <a:r>
              <a:t>Router 1 and Router 2 were configured with hostnames, passwords, password encryption, and a warning banner.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7" y="1069848"/>
            <a:ext cx="5541264" cy="4443983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uter 1 Config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84092"/>
            <a:ext cx="5486400" cy="28154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5595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F6973"/>
                </a:solidFill>
                <a:latin typeface="Aptos"/>
              </a:defRPr>
            </a:pPr>
            <a:r>
              <a:t>Router 1 configuration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069848"/>
            <a:ext cx="5541264" cy="4443983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outer 2 configu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16223"/>
            <a:ext cx="5486400" cy="2751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2200" y="55595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F6973"/>
                </a:solidFill>
                <a:latin typeface="Aptos"/>
              </a:defRPr>
            </a:pPr>
            <a:r>
              <a:t>Router 2 configuration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623560"/>
            <a:ext cx="10972800" cy="640080"/>
          </a:xfrm>
          <a:prstGeom prst="round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623560"/>
            <a:ext cx="82296" cy="64008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7881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137"/>
                </a:solidFill>
                <a:latin typeface="Aptos"/>
              </a:defRPr>
            </a:pPr>
            <a:r>
              <a:t>Security Controls Demonstrated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90488"/>
            <a:ext cx="1056132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Hostname • enable secret • console password • VTY password • service password-encryption • legal warning banner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5624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ptos"/>
              </a:defRPr>
            </a:pPr>
            <a:r>
              <a:t>Cisco Packet Tracer | Initial Router &amp; Switch 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528816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06CA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Interface Configuration &amp; Activation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  <a:latin typeface="Aptos"/>
              </a:defRPr>
            </a:pPr>
            <a:r>
              <a:t>Router LAN interfaces were assigned IPv4 addresses and activated using the no shutdown command.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120640" cy="2057400"/>
          </a:xfrm>
          <a:prstGeom prst="round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82296" cy="2057400"/>
          </a:xfrm>
          <a:prstGeom prst="rect">
            <a:avLst/>
          </a:prstGeom>
          <a:solidFill>
            <a:srgbClr val="228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07592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137"/>
                </a:solidFill>
                <a:latin typeface="Aptos"/>
              </a:defRPr>
            </a:pPr>
            <a:r>
              <a:t>Router 1 LAN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47091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interface gigabitEthernet 0/0</a:t>
            </a:r>
            <a:br/>
            <a:r>
              <a:t>ip address 192.168.10.1 255.255.255.0</a:t>
            </a:r>
            <a:br/>
            <a:r>
              <a:t>no shutdown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520440"/>
            <a:ext cx="5120640" cy="2057400"/>
          </a:xfrm>
          <a:prstGeom prst="round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520440"/>
            <a:ext cx="82296" cy="2057400"/>
          </a:xfrm>
          <a:prstGeom prst="rect">
            <a:avLst/>
          </a:prstGeom>
          <a:solidFill>
            <a:srgbClr val="228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85032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137"/>
                </a:solidFill>
                <a:latin typeface="Aptos"/>
              </a:defRPr>
            </a:pPr>
            <a:r>
              <a:t>Router 2 LAN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87368"/>
            <a:ext cx="47091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interface gigabitEthernet 0/0</a:t>
            </a:r>
            <a:br/>
            <a:r>
              <a:t>ip address 192.168.20.1 255.255.255.0</a:t>
            </a:r>
            <a:br/>
            <a:r>
              <a:t>no shutdown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024127"/>
            <a:ext cx="5449824" cy="4809744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outer 1 Config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44714"/>
            <a:ext cx="5394960" cy="276857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72200" y="5879592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F6973"/>
                </a:solidFill>
                <a:latin typeface="Aptos"/>
              </a:defRPr>
            </a:pPr>
            <a:r>
              <a:t>Router interface configuration shown in Packet Tracer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5624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ptos"/>
              </a:defRPr>
            </a:pPr>
            <a:r>
              <a:t>Cisco Packet Tracer | Initial Router &amp; Switch 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28816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06CAA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SSH Remote Access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  <a:latin typeface="Aptos"/>
              </a:defRPr>
            </a:pPr>
            <a:r>
              <a:t>Secure remote access is configured using a local username, domain name, RSA keys, and SSH version 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21208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82296" cy="1143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3533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137"/>
                </a:solidFill>
                <a:latin typeface="Aptos"/>
              </a:defRPr>
            </a:pPr>
            <a:r>
              <a:t>1. Local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755648"/>
            <a:ext cx="4800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username admin secret &lt;password&gt;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521208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188720"/>
            <a:ext cx="82296" cy="1143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3533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137"/>
                </a:solidFill>
                <a:latin typeface="Aptos"/>
              </a:defRPr>
            </a:pPr>
            <a:r>
              <a:t>2. Domain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755648"/>
            <a:ext cx="4800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ip domain-name group.local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06040"/>
            <a:ext cx="521208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606040"/>
            <a:ext cx="82296" cy="1143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770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137"/>
                </a:solidFill>
                <a:latin typeface="Aptos"/>
              </a:defRPr>
            </a:pPr>
            <a:r>
              <a:t>3. RSA Keys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72968"/>
            <a:ext cx="4800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crypto key generate rsa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606040"/>
            <a:ext cx="521208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606040"/>
            <a:ext cx="82296" cy="1143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770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137"/>
                </a:solidFill>
                <a:latin typeface="Aptos"/>
              </a:defRPr>
            </a:pPr>
            <a:r>
              <a:t>4. SSH 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172968"/>
            <a:ext cx="4800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ip ssh version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023360"/>
            <a:ext cx="521208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023360"/>
            <a:ext cx="82296" cy="1143000"/>
          </a:xfrm>
          <a:prstGeom prst="rect">
            <a:avLst/>
          </a:prstGeom>
          <a:solidFill>
            <a:srgbClr val="206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18795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137"/>
                </a:solidFill>
                <a:latin typeface="Aptos"/>
              </a:defRPr>
            </a:pPr>
            <a:r>
              <a:t>5. VTY Lines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590288"/>
            <a:ext cx="4800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line vty 0 4</a:t>
            </a:r>
            <a:br/>
            <a:r>
              <a:t>login local</a:t>
            </a:r>
            <a:br/>
            <a:r>
              <a:t>transport input ssh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440680"/>
            <a:ext cx="10972800" cy="640080"/>
          </a:xfrm>
          <a:prstGeom prst="round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440680"/>
            <a:ext cx="82296" cy="640080"/>
          </a:xfrm>
          <a:prstGeom prst="rect">
            <a:avLst/>
          </a:prstGeom>
          <a:solidFill>
            <a:srgbClr val="228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6052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137"/>
                </a:solidFill>
                <a:latin typeface="Aptos"/>
              </a:defRPr>
            </a:pPr>
            <a:r>
              <a:t>Security Benefit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6007608"/>
            <a:ext cx="1056132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SSH encrypts remote management traffic and is preferred over unsecured Telnet for administrative access.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5624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ptos"/>
              </a:defRPr>
            </a:pPr>
            <a:r>
              <a:t>Cisco Packet Tracer | Initial Router &amp; Switch Configuration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528816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06CAA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Switch Management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  <a:latin typeface="Aptos"/>
              </a:defRPr>
            </a:pPr>
            <a:r>
              <a:t>Each 2960 switch receives a VLAN 1 management address and a default gateway pointing to its local router.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7" y="1069848"/>
            <a:ext cx="5541264" cy="4489703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witch 1 Config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3059"/>
            <a:ext cx="5486400" cy="2763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0527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F6973"/>
                </a:solidFill>
                <a:latin typeface="Aptos"/>
              </a:defRPr>
            </a:pPr>
            <a:r>
              <a:t>Switch 1 configuration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069848"/>
            <a:ext cx="5541264" cy="4489703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witch 2 configu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14943"/>
            <a:ext cx="5486400" cy="2799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2200" y="560527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F6973"/>
                </a:solidFill>
                <a:latin typeface="Aptos"/>
              </a:defRPr>
            </a:pPr>
            <a:r>
              <a:t>Switch 2 configuration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577840"/>
            <a:ext cx="10972800" cy="685800"/>
          </a:xfrm>
          <a:prstGeom prst="round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577840"/>
            <a:ext cx="82296" cy="685800"/>
          </a:xfrm>
          <a:prstGeom prst="rect">
            <a:avLst/>
          </a:prstGeom>
          <a:solidFill>
            <a:srgbClr val="206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742431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137"/>
                </a:solidFill>
                <a:latin typeface="Aptos"/>
              </a:defRPr>
            </a:pPr>
            <a:r>
              <a:t>Key Commands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44768"/>
            <a:ext cx="1056132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interface vlan 1  |  ip address &lt;management-IP&gt; &lt;mask&gt;  |  no shutdown  |  ip default-gateway &lt;router-IP&gt;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5624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ptos"/>
              </a:defRPr>
            </a:pPr>
            <a:r>
              <a:t>Cisco Packet Tracer | Initial Router &amp; Switch 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528816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06CAA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Connectivity Testing &amp;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  <a:latin typeface="Aptos"/>
              </a:defRPr>
            </a:pPr>
            <a:r>
              <a:t>Verification should confirm local gateway access, same-LAN communication, remote-LAN routing, and SSH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3474720" cy="2057400"/>
          </a:xfrm>
          <a:prstGeom prst="round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82296" cy="2057400"/>
          </a:xfrm>
          <a:prstGeom prst="rect">
            <a:avLst/>
          </a:prstGeom>
          <a:solidFill>
            <a:srgbClr val="228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0759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137"/>
                </a:solidFill>
                <a:latin typeface="Aptos"/>
              </a:defRPr>
            </a:pPr>
            <a:r>
              <a:t>Local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30632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ping 192.168.10.1</a:t>
            </a:r>
            <a:br/>
            <a:r>
              <a:t>ping 192.168.10.4</a:t>
            </a:r>
            <a:br/>
            <a:br/>
            <a:r>
              <a:t>Expected result: successful replies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474720" cy="2057400"/>
          </a:xfrm>
          <a:prstGeom prst="round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143000"/>
            <a:ext cx="82296" cy="2057400"/>
          </a:xfrm>
          <a:prstGeom prst="rect">
            <a:avLst/>
          </a:prstGeom>
          <a:solidFill>
            <a:srgbClr val="206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30759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137"/>
                </a:solidFill>
                <a:latin typeface="Aptos"/>
              </a:defRPr>
            </a:pPr>
            <a:r>
              <a:t>Remote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09928"/>
            <a:ext cx="30632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ping 192.168.20.1</a:t>
            </a:r>
            <a:br/>
            <a:r>
              <a:t>ping &lt;remote PC&gt;</a:t>
            </a:r>
            <a:br/>
            <a:br/>
            <a:r>
              <a:t>Requires a working R1–R2 link and correct routes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143000"/>
            <a:ext cx="3474720" cy="2057400"/>
          </a:xfrm>
          <a:prstGeom prst="round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143000"/>
            <a:ext cx="82296" cy="20574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30759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137"/>
                </a:solidFill>
                <a:latin typeface="Aptos"/>
              </a:defRPr>
            </a:pPr>
            <a:r>
              <a:t>SSH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09928"/>
            <a:ext cx="30632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ssh -l admin 192.168.10.1</a:t>
            </a:r>
            <a:br/>
            <a:br/>
            <a:r>
              <a:t>Confirms secure remote login configuration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5303520" cy="2057400"/>
          </a:xfrm>
          <a:prstGeom prst="round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657600"/>
            <a:ext cx="82296" cy="2057400"/>
          </a:xfrm>
          <a:prstGeom prst="rect">
            <a:avLst/>
          </a:prstGeom>
          <a:solidFill>
            <a:srgbClr val="BE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22191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137"/>
                </a:solidFill>
                <a:latin typeface="Aptos"/>
              </a:defRPr>
            </a:pPr>
            <a:r>
              <a:t>Issue Observed in the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24528"/>
            <a:ext cx="4892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The screenshots show attempts to configure Serial interfaces on 2911 routers that returned “Invalid interface type and number.” This indicates that the selected router/module does not provide those Serial interfaces.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657600"/>
            <a:ext cx="5303520" cy="2057400"/>
          </a:xfrm>
          <a:prstGeom prst="round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657600"/>
            <a:ext cx="82296" cy="2057400"/>
          </a:xfrm>
          <a:prstGeom prst="rect">
            <a:avLst/>
          </a:prstGeom>
          <a:solidFill>
            <a:srgbClr val="228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822191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137"/>
                </a:solidFill>
                <a:latin typeface="Aptos"/>
              </a:defRPr>
            </a:pPr>
            <a:r>
              <a:t>Recommended 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24528"/>
            <a:ext cx="4892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Connect the two routers using available GigabitEthernet interfaces, or install a compatible Serial module before configuring Serial interfaces. Then verify with show ip interface brief.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5624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ptos"/>
              </a:defRPr>
            </a:pPr>
            <a:r>
              <a:t>Cisco Packet Tracer | Initial Router &amp; Switch Configuration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528816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06CAA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  <a:latin typeface="Aptos"/>
              </a:defRPr>
            </a:pPr>
            <a:r>
              <a:t>Summary of the skills developed during the Cisco Packet Tracer mini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3429000" cy="4297680"/>
          </a:xfrm>
          <a:prstGeom prst="round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43000"/>
            <a:ext cx="82296" cy="4297680"/>
          </a:xfrm>
          <a:prstGeom prst="rect">
            <a:avLst/>
          </a:prstGeom>
          <a:solidFill>
            <a:srgbClr val="206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30759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137"/>
                </a:solidFill>
                <a:latin typeface="Aptos"/>
              </a:defRPr>
            </a:pPr>
            <a:r>
              <a:t>What We Configured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709928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• Router hostnames</a:t>
            </a:r>
            <a:br/>
            <a:r>
              <a:t>• Privileged EXEC security</a:t>
            </a:r>
            <a:br/>
            <a:r>
              <a:t>• Console and VTY access</a:t>
            </a:r>
            <a:br/>
            <a:r>
              <a:t>• Password encryption</a:t>
            </a:r>
            <a:br/>
            <a:r>
              <a:t>• Login banner</a:t>
            </a:r>
            <a:br/>
            <a:r>
              <a:t>• Router IPv4 interfaces</a:t>
            </a:r>
            <a:br/>
            <a:r>
              <a:t>• Switch VLAN 1 management</a:t>
            </a:r>
            <a:br/>
            <a:r>
              <a:t>• Default gateways</a:t>
            </a:r>
            <a:br/>
            <a:r>
              <a:t>• Saved configurations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43000"/>
            <a:ext cx="3429000" cy="4297680"/>
          </a:xfrm>
          <a:prstGeom prst="round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143000"/>
            <a:ext cx="82296" cy="429768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30759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137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709928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• Basic Cisco IOS navigation</a:t>
            </a:r>
            <a:br/>
            <a:r>
              <a:t>• Interface activation</a:t>
            </a:r>
            <a:br/>
            <a:r>
              <a:t>• IPv4 addressing</a:t>
            </a:r>
            <a:br/>
            <a:r>
              <a:t>• Default gateway operation</a:t>
            </a:r>
            <a:br/>
            <a:r>
              <a:t>• Remote management concepts</a:t>
            </a:r>
            <a:br/>
            <a:r>
              <a:t>• SSH security</a:t>
            </a:r>
            <a:br/>
            <a:r>
              <a:t>• Connectivity testing</a:t>
            </a:r>
            <a:br/>
            <a:r>
              <a:t>• Systematic troubleshooting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143000"/>
            <a:ext cx="3429000" cy="4297680"/>
          </a:xfrm>
          <a:prstGeom prst="round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143000"/>
            <a:ext cx="82296" cy="4297680"/>
          </a:xfrm>
          <a:prstGeom prst="rect">
            <a:avLst/>
          </a:prstGeom>
          <a:solidFill>
            <a:srgbClr val="228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30759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137"/>
                </a:solidFill>
                <a:latin typeface="Aptos"/>
              </a:defRPr>
            </a:pPr>
            <a:r>
              <a:t>Problems &amp; Solutions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709928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Aptos"/>
              </a:defRPr>
            </a:pPr>
            <a:r>
              <a:t>Problem: interface mismatch</a:t>
            </a:r>
            <a:br/>
            <a:r>
              <a:t>Solution: verify available ports</a:t>
            </a:r>
            <a:br/>
            <a:br/>
            <a:r>
              <a:t>Problem: inconsistent subnet masks</a:t>
            </a:r>
            <a:br/>
            <a:r>
              <a:t>Solution: confirm and standardize addressing</a:t>
            </a:r>
            <a:br/>
            <a:br/>
            <a:r>
              <a:t>Problem: connectivity failures</a:t>
            </a:r>
            <a:br/>
            <a:r>
              <a:t>Solution: check IPs, masks, gateways, routes, and interface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150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2137"/>
                </a:solidFill>
                <a:latin typeface="Aptos Display"/>
              </a:defRPr>
            </a:pPr>
            <a:r>
              <a:t>Thank You — Questions &amp; Discussion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5624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ptos"/>
              </a:defRPr>
            </a:pPr>
            <a:r>
              <a:t>Cisco Packet Tracer | Initial Router &amp; Switch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28816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06CA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